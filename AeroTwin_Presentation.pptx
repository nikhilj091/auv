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(Intro)</a:t>
            </a:r>
          </a:p>
          <a:p>
            <a:r>
              <a:t>Welcome everyone. Today we present AeroTwin — our AI-enabled Real-Time Digital Twin framework designed for health monitoring, fault prediction, and mission reliability enhancement of aero piston engines in MALE UAVs.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[0:00 - 0:18] Spoken Script:</a:t>
            </a:r>
          </a:p>
          <a:p>
            <a:r>
              <a:t>"Welcome to AeroTwin — an AI-enabled real-time Digital Twin framework engineered for predictive health monitoring and mission reliability in MALE UAV aero piston engines. AeroTwin continuously ingests multi-channel telemetry to track engine degradation, detect emerging anomalies before catastrophic failure, and forecast Remaining Useful Life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[0:18 - 0:42] Spoken Script:</a:t>
            </a:r>
          </a:p>
          <a:p>
            <a:r>
              <a:t>"Starting our historic telemetry replay engine at 1 Hz streaming frequency, the Digital Twin synchronizes with incoming engine sensor cycles. On screen, our Random Forest Regressor predicts the remaining useful operational cycles, dynamically computing an overall Health Index from 100% down to critical thresholds, as visualized in the real-time health and RUL degradation curves."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[0:42 - 1:05] Spoken Script:</a:t>
            </a:r>
          </a:p>
          <a:p>
            <a:r>
              <a:t>"When sensor drift occurs, our background Isolation Forest model flags anomalous patterns and calculates the severity level. Crucially, AeroTwin provides Explainable AI: the side panel instantly reveals the top contributing sensor anomalies and drift percentages, giving ground-station operators actionable root-cause diagnostics instead of a black-box alert."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[1:05 - 1:22] Spoken Script:</a:t>
            </a:r>
          </a:p>
          <a:p>
            <a:r>
              <a:t>"Under the hood, the backend is built with FastAPI and scikit-learn. Validated against multi-cycle run-to-failure benchmark datasets across 14 normalized sensor channels, our RUL model achieves a strong R² score of 0.8029, a Mean Absolute Error of 13.00 cycles, and an RMSE of 18.06 cycles."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[1:22 - 1:35] Spoken Script:</a:t>
            </a:r>
          </a:p>
          <a:p>
            <a:r>
              <a:t>"By transitioning UAV maintenance from reactive schedules to real-time predictive digital twinning, AeroTwin prevents in-flight engine failures and maximizes fleet availability.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62895" cy="2011680"/>
          </a:xfrm>
          <a:prstGeom prst="rect">
            <a:avLst/>
          </a:prstGeom>
          <a:noFill/>
        </p:spPr>
        <p:txBody>
          <a:bodyPr wrap="square">
            <a:spAutoFit/>
          </a:bodyPr>
          <a:lstStyle/>
          <a:p>
            <a:pPr>
              <a:defRPr sz="5400" b="1">
                <a:solidFill>
                  <a:srgbClr val="0EA5E9"/>
                </a:solidFill>
                <a:latin typeface="Segoe UI"/>
              </a:defRPr>
            </a:pPr>
            <a:r>
              <a:t>AeroTwin</a:t>
            </a:r>
          </a:p>
          <a:p>
            <a:pPr>
              <a:spcBef>
                <a:spcPts val="1000"/>
              </a:spcBef>
              <a:defRPr sz="2200">
                <a:solidFill>
                  <a:srgbClr val="F8FAFC"/>
                </a:solidFill>
                <a:latin typeface="Segoe UI"/>
              </a:defRPr>
            </a:pPr>
            <a:r>
              <a:t>AI-Enabled Real-Time Digital Twin for Health Monitoring &amp; RUL Prediction</a:t>
            </a:r>
          </a:p>
          <a:p>
            <a:pPr>
              <a:spcBef>
                <a:spcPts val="800"/>
              </a:spcBef>
              <a:defRPr sz="1600">
                <a:solidFill>
                  <a:srgbClr val="94A3B8"/>
                </a:solidFill>
                <a:latin typeface="Segoe UI"/>
              </a:defRPr>
            </a:pPr>
            <a:r>
              <a:t>Aero Piston Engines used in MALE UAVs | Demo Duration: 90 Seconds</a:t>
            </a:r>
          </a:p>
        </p:txBody>
      </p:sp>
      <p:sp>
        <p:nvSpPr>
          <p:cNvPr id="5" name="Rounded Rectangle 4"/>
          <p:cNvSpPr/>
          <p:nvPr/>
        </p:nvSpPr>
        <p:spPr>
          <a:xfrm>
            <a:off x="914400" y="4389120"/>
            <a:ext cx="3291840" cy="137160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3B82F6"/>
                </a:solidFill>
                <a:latin typeface="Segoe UI"/>
              </a:defRPr>
            </a:pPr>
            <a:r>
              <a:t>MONITOR</a:t>
            </a:r>
          </a:p>
          <a:p>
            <a:pPr>
              <a:spcBef>
                <a:spcPts val="600"/>
              </a:spcBef>
              <a:defRPr sz="1200">
                <a:solidFill>
                  <a:srgbClr val="94A3B8"/>
                </a:solidFill>
                <a:latin typeface="Segoe UI"/>
              </a:defRPr>
            </a:pPr>
            <a:r>
              <a:t>Real-Time 1Hz Telemetry Ingestion</a:t>
            </a:r>
          </a:p>
        </p:txBody>
      </p:sp>
      <p:sp>
        <p:nvSpPr>
          <p:cNvPr id="6" name="Rounded Rectangle 5"/>
          <p:cNvSpPr/>
          <p:nvPr/>
        </p:nvSpPr>
        <p:spPr>
          <a:xfrm>
            <a:off x="4434840" y="4389120"/>
            <a:ext cx="3291840" cy="13716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0B981"/>
                </a:solidFill>
                <a:latin typeface="Segoe UI"/>
              </a:defRPr>
            </a:pPr>
            <a:r>
              <a:t>PREDICT</a:t>
            </a:r>
          </a:p>
          <a:p>
            <a:pPr>
              <a:spcBef>
                <a:spcPts val="600"/>
              </a:spcBef>
              <a:defRPr sz="1200">
                <a:solidFill>
                  <a:srgbClr val="94A3B8"/>
                </a:solidFill>
                <a:latin typeface="Segoe UI"/>
              </a:defRPr>
            </a:pPr>
            <a:r>
              <a:t>R² = 0.8029 RUL Prognostics</a:t>
            </a:r>
          </a:p>
        </p:txBody>
      </p:sp>
      <p:sp>
        <p:nvSpPr>
          <p:cNvPr id="7" name="Rounded Rectangle 6"/>
          <p:cNvSpPr/>
          <p:nvPr/>
        </p:nvSpPr>
        <p:spPr>
          <a:xfrm>
            <a:off x="7955279" y="4389120"/>
            <a:ext cx="3291840" cy="137160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EA5E9"/>
                </a:solidFill>
                <a:latin typeface="Segoe UI"/>
              </a:defRPr>
            </a:pPr>
            <a:r>
              <a:t>PROTECT</a:t>
            </a:r>
          </a:p>
          <a:p>
            <a:pPr>
              <a:spcBef>
                <a:spcPts val="600"/>
              </a:spcBef>
              <a:defRPr sz="1200">
                <a:solidFill>
                  <a:srgbClr val="94A3B8"/>
                </a:solidFill>
                <a:latin typeface="Segoe UI"/>
              </a:defRPr>
            </a:pPr>
            <a:r>
              <a:t>Explainable AI Anomaly Detection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822960"/>
          </a:xfrm>
          <a:prstGeom prst="rect">
            <a:avLst/>
          </a:prstGeom>
          <a:noFill/>
        </p:spPr>
        <p:txBody>
          <a:bodyPr wrap="square">
            <a:spAutoFit/>
          </a:bodyPr>
          <a:lstStyle/>
          <a:p>
            <a:pPr>
              <a:defRPr sz="2400" b="1">
                <a:solidFill>
                  <a:srgbClr val="0EA5E9"/>
                </a:solidFill>
                <a:latin typeface="Segoe UI"/>
              </a:defRPr>
            </a:pPr>
            <a:r>
              <a:t>SLIDE 1  |  System Overview &amp; Digital Twin Framework</a:t>
            </a:r>
          </a:p>
          <a:p>
            <a:pPr>
              <a:spcBef>
                <a:spcPts val="200"/>
              </a:spcBef>
              <a:defRPr sz="1200" b="1">
                <a:solidFill>
                  <a:srgbClr val="10B981"/>
                </a:solidFill>
                <a:latin typeface="Segoe UI"/>
              </a:defRPr>
            </a:pPr>
            <a:r>
              <a:t>⏱ Presentation Timing: 0:00 – 0:18 (18s)</a:t>
            </a:r>
          </a:p>
        </p:txBody>
      </p:sp>
      <p:pic>
        <p:nvPicPr>
          <p:cNvPr id="5" name="Picture 4" descr="slide1_system_overview_1790713206628.jpg"/>
          <p:cNvPicPr>
            <a:picLocks noChangeAspect="1"/>
          </p:cNvPicPr>
          <p:nvPr/>
        </p:nvPicPr>
        <p:blipFill>
          <a:blip r:embed="rId2"/>
          <a:stretch>
            <a:fillRect/>
          </a:stretch>
        </p:blipFill>
        <p:spPr>
          <a:xfrm>
            <a:off x="731520" y="1371600"/>
            <a:ext cx="6217920" cy="3470467"/>
          </a:xfrm>
          <a:prstGeom prst="rect">
            <a:avLst/>
          </a:prstGeom>
        </p:spPr>
      </p:pic>
      <p:sp>
        <p:nvSpPr>
          <p:cNvPr id="6" name="Rounded Rectangle 5"/>
          <p:cNvSpPr/>
          <p:nvPr/>
        </p:nvSpPr>
        <p:spPr>
          <a:xfrm>
            <a:off x="7132320" y="1371600"/>
            <a:ext cx="432785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94A3B8"/>
                </a:solidFill>
                <a:latin typeface="Segoe UI"/>
              </a:defRPr>
            </a:pPr>
            <a:r>
              <a:t>SYSTEM STATUS</a:t>
            </a:r>
          </a:p>
          <a:p>
            <a:pPr>
              <a:spcBef>
                <a:spcPts val="200"/>
              </a:spcBef>
              <a:spcAft>
                <a:spcPts val="1200"/>
              </a:spcAft>
              <a:defRPr sz="1600" b="1">
                <a:solidFill>
                  <a:srgbClr val="10B981"/>
                </a:solidFill>
                <a:latin typeface="Segoe UI"/>
              </a:defRPr>
            </a:pPr>
            <a:r>
              <a:t>ONLINE | MODEL v1.0</a:t>
            </a:r>
          </a:p>
          <a:p>
            <a:pPr>
              <a:spcBef>
                <a:spcPts val="800"/>
              </a:spcBef>
              <a:defRPr sz="1200">
                <a:solidFill>
                  <a:srgbClr val="F8FAFC"/>
                </a:solidFill>
                <a:latin typeface="Segoe UI"/>
              </a:defRPr>
            </a:pPr>
            <a:r>
              <a:t>• Target Platform: MALE UAV Aero Piston Engines (Rotax / Austro surrogate).</a:t>
            </a:r>
          </a:p>
          <a:p>
            <a:pPr>
              <a:spcBef>
                <a:spcPts val="800"/>
              </a:spcBef>
              <a:defRPr sz="1200">
                <a:solidFill>
                  <a:srgbClr val="F8FAFC"/>
                </a:solidFill>
                <a:latin typeface="Segoe UI"/>
              </a:defRPr>
            </a:pPr>
            <a:r>
              <a:t>• Ingestion: 14 active normalized sensor channels (Temperatures, Pressures, RPM, Vibration).</a:t>
            </a:r>
          </a:p>
          <a:p>
            <a:pPr>
              <a:spcBef>
                <a:spcPts val="800"/>
              </a:spcBef>
              <a:defRPr sz="1200">
                <a:solidFill>
                  <a:srgbClr val="F8FAFC"/>
                </a:solidFill>
                <a:latin typeface="Segoe UI"/>
              </a:defRPr>
            </a:pPr>
            <a:r>
              <a:t>• System Pulse: Live WebSockets/HTTP polling synchronized with digital twin twin state.</a:t>
            </a:r>
          </a:p>
          <a:p>
            <a:pPr>
              <a:spcBef>
                <a:spcPts val="800"/>
              </a:spcBef>
              <a:defRPr sz="1200">
                <a:solidFill>
                  <a:srgbClr val="F8FAFC"/>
                </a:solidFill>
                <a:latin typeface="Segoe UI"/>
              </a:defRPr>
            </a:pPr>
            <a:r>
              <a:t>• Benchmark Dataset: NASA C-MAPSS FD001 run-to-failure prognostics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822960"/>
          </a:xfrm>
          <a:prstGeom prst="rect">
            <a:avLst/>
          </a:prstGeom>
          <a:noFill/>
        </p:spPr>
        <p:txBody>
          <a:bodyPr wrap="square">
            <a:spAutoFit/>
          </a:bodyPr>
          <a:lstStyle/>
          <a:p>
            <a:pPr>
              <a:defRPr sz="2400" b="1">
                <a:solidFill>
                  <a:srgbClr val="0EA5E9"/>
                </a:solidFill>
                <a:latin typeface="Segoe UI"/>
              </a:defRPr>
            </a:pPr>
            <a:r>
              <a:t>SLIDE 2  |  Real-Time Telemetry Replay &amp; RUL Prognostics</a:t>
            </a:r>
          </a:p>
          <a:p>
            <a:pPr>
              <a:spcBef>
                <a:spcPts val="200"/>
              </a:spcBef>
              <a:defRPr sz="1200" b="1">
                <a:solidFill>
                  <a:srgbClr val="10B981"/>
                </a:solidFill>
                <a:latin typeface="Segoe UI"/>
              </a:defRPr>
            </a:pPr>
            <a:r>
              <a:t>⏱ Presentation Timing: 0:18 – 0:42 (24s)</a:t>
            </a:r>
          </a:p>
        </p:txBody>
      </p:sp>
      <p:pic>
        <p:nvPicPr>
          <p:cNvPr id="5" name="Picture 4" descr="slide2_kpi_charts_1790713222662.jpg"/>
          <p:cNvPicPr>
            <a:picLocks noChangeAspect="1"/>
          </p:cNvPicPr>
          <p:nvPr/>
        </p:nvPicPr>
        <p:blipFill>
          <a:blip r:embed="rId2"/>
          <a:stretch>
            <a:fillRect/>
          </a:stretch>
        </p:blipFill>
        <p:spPr>
          <a:xfrm>
            <a:off x="731520" y="1371600"/>
            <a:ext cx="6217920" cy="3470467"/>
          </a:xfrm>
          <a:prstGeom prst="rect">
            <a:avLst/>
          </a:prstGeom>
        </p:spPr>
      </p:pic>
      <p:sp>
        <p:nvSpPr>
          <p:cNvPr id="6" name="Rounded Rectangle 5"/>
          <p:cNvSpPr/>
          <p:nvPr/>
        </p:nvSpPr>
        <p:spPr>
          <a:xfrm>
            <a:off x="7132320" y="1371600"/>
            <a:ext cx="432785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94A3B8"/>
                </a:solidFill>
                <a:latin typeface="Segoe UI"/>
              </a:defRPr>
            </a:pPr>
            <a:r>
              <a:t>PREDICTED RUL</a:t>
            </a:r>
          </a:p>
          <a:p>
            <a:pPr>
              <a:spcBef>
                <a:spcPts val="200"/>
              </a:spcBef>
              <a:spcAft>
                <a:spcPts val="1200"/>
              </a:spcAft>
              <a:defRPr sz="1600" b="1">
                <a:solidFill>
                  <a:srgbClr val="10B981"/>
                </a:solidFill>
                <a:latin typeface="Segoe UI"/>
              </a:defRPr>
            </a:pPr>
            <a:r>
              <a:t>122 Cycles | HEALTH 94%</a:t>
            </a:r>
          </a:p>
          <a:p>
            <a:pPr>
              <a:spcBef>
                <a:spcPts val="800"/>
              </a:spcBef>
              <a:defRPr sz="1200">
                <a:solidFill>
                  <a:srgbClr val="F8FAFC"/>
                </a:solidFill>
                <a:latin typeface="Segoe UI"/>
              </a:defRPr>
            </a:pPr>
            <a:r>
              <a:t>• 1 Hz Replay Engine: Historical test-cycle simulation streaming directly to twin state.</a:t>
            </a:r>
          </a:p>
          <a:p>
            <a:pPr>
              <a:spcBef>
                <a:spcPts val="800"/>
              </a:spcBef>
              <a:defRPr sz="1200">
                <a:solidFill>
                  <a:srgbClr val="F8FAFC"/>
                </a:solidFill>
                <a:latin typeface="Segoe UI"/>
              </a:defRPr>
            </a:pPr>
            <a:r>
              <a:t>• 4 Live KPI Indicators: Engine Health (%), Predicted RUL (cycles), Anomaly Score, Degradation Trend.</a:t>
            </a:r>
          </a:p>
          <a:p>
            <a:pPr>
              <a:spcBef>
                <a:spcPts val="800"/>
              </a:spcBef>
              <a:defRPr sz="1200">
                <a:solidFill>
                  <a:srgbClr val="F8FAFC"/>
                </a:solidFill>
                <a:latin typeface="Segoe UI"/>
              </a:defRPr>
            </a:pPr>
            <a:r>
              <a:t>• Dual Live Curves: Real-time Recharts streams for Health Index &amp; RUL step-down countdown.</a:t>
            </a:r>
          </a:p>
          <a:p>
            <a:pPr>
              <a:spcBef>
                <a:spcPts val="800"/>
              </a:spcBef>
              <a:defRPr sz="1200">
                <a:solidFill>
                  <a:srgbClr val="F8FAFC"/>
                </a:solidFill>
                <a:latin typeface="Segoe UI"/>
              </a:defRPr>
            </a:pPr>
            <a:r>
              <a:t>• Dynamic Scoring: Health Index = (RUL / 130) * 100% with severity penalty reductions.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822960"/>
          </a:xfrm>
          <a:prstGeom prst="rect">
            <a:avLst/>
          </a:prstGeom>
          <a:noFill/>
        </p:spPr>
        <p:txBody>
          <a:bodyPr wrap="square">
            <a:spAutoFit/>
          </a:bodyPr>
          <a:lstStyle/>
          <a:p>
            <a:pPr>
              <a:defRPr sz="2400" b="1">
                <a:solidFill>
                  <a:srgbClr val="0EA5E9"/>
                </a:solidFill>
                <a:latin typeface="Segoe UI"/>
              </a:defRPr>
            </a:pPr>
            <a:r>
              <a:t>SLIDE 3  |  Anomaly Detection &amp; Explainable AI (XAI) Diagnostics</a:t>
            </a:r>
          </a:p>
          <a:p>
            <a:pPr>
              <a:spcBef>
                <a:spcPts val="200"/>
              </a:spcBef>
              <a:defRPr sz="1200" b="1">
                <a:solidFill>
                  <a:srgbClr val="10B981"/>
                </a:solidFill>
                <a:latin typeface="Segoe UI"/>
              </a:defRPr>
            </a:pPr>
            <a:r>
              <a:t>⏱ Presentation Timing: 0:42 – 1:05 (23s)</a:t>
            </a:r>
          </a:p>
        </p:txBody>
      </p:sp>
      <p:pic>
        <p:nvPicPr>
          <p:cNvPr id="5" name="Picture 4" descr="slide3_xai_anomaly_1790713236330.jpg"/>
          <p:cNvPicPr>
            <a:picLocks noChangeAspect="1"/>
          </p:cNvPicPr>
          <p:nvPr/>
        </p:nvPicPr>
        <p:blipFill>
          <a:blip r:embed="rId2"/>
          <a:stretch>
            <a:fillRect/>
          </a:stretch>
        </p:blipFill>
        <p:spPr>
          <a:xfrm>
            <a:off x="731520" y="1371600"/>
            <a:ext cx="6217920" cy="3470467"/>
          </a:xfrm>
          <a:prstGeom prst="rect">
            <a:avLst/>
          </a:prstGeom>
        </p:spPr>
      </p:pic>
      <p:sp>
        <p:nvSpPr>
          <p:cNvPr id="6" name="Rounded Rectangle 5"/>
          <p:cNvSpPr/>
          <p:nvPr/>
        </p:nvSpPr>
        <p:spPr>
          <a:xfrm>
            <a:off x="7132320" y="1371600"/>
            <a:ext cx="432785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94A3B8"/>
                </a:solidFill>
                <a:latin typeface="Segoe UI"/>
              </a:defRPr>
            </a:pPr>
            <a:r>
              <a:t>ANOMALY ALERT</a:t>
            </a:r>
          </a:p>
          <a:p>
            <a:pPr>
              <a:spcBef>
                <a:spcPts val="200"/>
              </a:spcBef>
              <a:spcAft>
                <a:spcPts val="1200"/>
              </a:spcAft>
              <a:defRPr sz="1600" b="1">
                <a:solidFill>
                  <a:srgbClr val="10B981"/>
                </a:solidFill>
                <a:latin typeface="Segoe UI"/>
              </a:defRPr>
            </a:pPr>
            <a:r>
              <a:t>SEVERITY: HIGH (38% CRITICAL)</a:t>
            </a:r>
          </a:p>
          <a:p>
            <a:pPr>
              <a:spcBef>
                <a:spcPts val="800"/>
              </a:spcBef>
              <a:defRPr sz="1200">
                <a:solidFill>
                  <a:srgbClr val="F8FAFC"/>
                </a:solidFill>
                <a:latin typeface="Segoe UI"/>
              </a:defRPr>
            </a:pPr>
            <a:r>
              <a:t>• Isolation Forest Anomaly Engine: Unsupervised outlier detection with 1% contamination threshold.</a:t>
            </a:r>
          </a:p>
          <a:p>
            <a:pPr>
              <a:spcBef>
                <a:spcPts val="800"/>
              </a:spcBef>
              <a:defRPr sz="1200">
                <a:solidFill>
                  <a:srgbClr val="F8FAFC"/>
                </a:solidFill>
                <a:latin typeface="Segoe UI"/>
              </a:defRPr>
            </a:pPr>
            <a:r>
              <a:t>• Automated Severity Flagging: Instant state transition from NORMAL (Green) to CRITICAL (Red).</a:t>
            </a:r>
          </a:p>
          <a:p>
            <a:pPr>
              <a:spcBef>
                <a:spcPts val="800"/>
              </a:spcBef>
              <a:defRPr sz="1200">
                <a:solidFill>
                  <a:srgbClr val="F8FAFC"/>
                </a:solidFill>
                <a:latin typeface="Segoe UI"/>
              </a:defRPr>
            </a:pPr>
            <a:r>
              <a:t>• Explainable AI (XAI): Root-cause sensor contribution ranking with proportional impact bars.</a:t>
            </a:r>
          </a:p>
          <a:p>
            <a:pPr>
              <a:spcBef>
                <a:spcPts val="800"/>
              </a:spcBef>
              <a:defRPr sz="1200">
                <a:solidFill>
                  <a:srgbClr val="F8FAFC"/>
                </a:solidFill>
                <a:latin typeface="Segoe UI"/>
              </a:defRPr>
            </a:pPr>
            <a:r>
              <a:t>• Top Fault Contributors: sensor_11 (Temperature: 84%), sensor_14 (Pressure: 62%), sensor_9 (45%).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822960"/>
          </a:xfrm>
          <a:prstGeom prst="rect">
            <a:avLst/>
          </a:prstGeom>
          <a:noFill/>
        </p:spPr>
        <p:txBody>
          <a:bodyPr wrap="square">
            <a:spAutoFit/>
          </a:bodyPr>
          <a:lstStyle/>
          <a:p>
            <a:pPr>
              <a:defRPr sz="2400" b="1">
                <a:solidFill>
                  <a:srgbClr val="0EA5E9"/>
                </a:solidFill>
                <a:latin typeface="Segoe UI"/>
              </a:defRPr>
            </a:pPr>
            <a:r>
              <a:t>SLIDE 4  |  Quantitative Evaluation Metrics &amp; Architecture Code</a:t>
            </a:r>
          </a:p>
          <a:p>
            <a:pPr>
              <a:spcBef>
                <a:spcPts val="200"/>
              </a:spcBef>
              <a:defRPr sz="1200" b="1">
                <a:solidFill>
                  <a:srgbClr val="10B981"/>
                </a:solidFill>
                <a:latin typeface="Segoe UI"/>
              </a:defRPr>
            </a:pPr>
            <a:r>
              <a:t>⏱ Presentation Timing: 1:05 – 1:22 (17s)</a:t>
            </a:r>
          </a:p>
        </p:txBody>
      </p:sp>
      <p:pic>
        <p:nvPicPr>
          <p:cNvPr id="5" name="Picture 4" descr="slide4_metrics_code_1790713250657.jpg"/>
          <p:cNvPicPr>
            <a:picLocks noChangeAspect="1"/>
          </p:cNvPicPr>
          <p:nvPr/>
        </p:nvPicPr>
        <p:blipFill>
          <a:blip r:embed="rId2"/>
          <a:stretch>
            <a:fillRect/>
          </a:stretch>
        </p:blipFill>
        <p:spPr>
          <a:xfrm>
            <a:off x="731520" y="1371600"/>
            <a:ext cx="6217920" cy="3470467"/>
          </a:xfrm>
          <a:prstGeom prst="rect">
            <a:avLst/>
          </a:prstGeom>
        </p:spPr>
      </p:pic>
      <p:sp>
        <p:nvSpPr>
          <p:cNvPr id="6" name="Rounded Rectangle 5"/>
          <p:cNvSpPr/>
          <p:nvPr/>
        </p:nvSpPr>
        <p:spPr>
          <a:xfrm>
            <a:off x="7132320" y="1371600"/>
            <a:ext cx="432785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94A3B8"/>
                </a:solidFill>
                <a:latin typeface="Segoe UI"/>
              </a:defRPr>
            </a:pPr>
            <a:r>
              <a:t>R² SCORE / MAE</a:t>
            </a:r>
          </a:p>
          <a:p>
            <a:pPr>
              <a:spcBef>
                <a:spcPts val="200"/>
              </a:spcBef>
              <a:spcAft>
                <a:spcPts val="1200"/>
              </a:spcAft>
              <a:defRPr sz="1600" b="1">
                <a:solidFill>
                  <a:srgbClr val="10B981"/>
                </a:solidFill>
                <a:latin typeface="Segoe UI"/>
              </a:defRPr>
            </a:pPr>
            <a:r>
              <a:t>0.8029 | 13.00 Cycles</a:t>
            </a:r>
          </a:p>
          <a:p>
            <a:pPr>
              <a:spcBef>
                <a:spcPts val="800"/>
              </a:spcBef>
              <a:defRPr sz="1200">
                <a:solidFill>
                  <a:srgbClr val="F8FAFC"/>
                </a:solidFill>
                <a:latin typeface="Segoe UI"/>
              </a:defRPr>
            </a:pPr>
            <a:r>
              <a:t>• R² Score: 0.8029 (80.3% degradation variance explained on last cycle test set).</a:t>
            </a:r>
          </a:p>
          <a:p>
            <a:pPr>
              <a:spcBef>
                <a:spcPts val="800"/>
              </a:spcBef>
              <a:defRPr sz="1200">
                <a:solidFill>
                  <a:srgbClr val="F8FAFC"/>
                </a:solidFill>
                <a:latin typeface="Segoe UI"/>
              </a:defRPr>
            </a:pPr>
            <a:r>
              <a:t>• Mean Absolute Error (MAE): 13.00 cycles average RUL deviation.</a:t>
            </a:r>
          </a:p>
          <a:p>
            <a:pPr>
              <a:spcBef>
                <a:spcPts val="800"/>
              </a:spcBef>
              <a:defRPr sz="1200">
                <a:solidFill>
                  <a:srgbClr val="F8FAFC"/>
                </a:solidFill>
                <a:latin typeface="Segoe UI"/>
              </a:defRPr>
            </a:pPr>
            <a:r>
              <a:t>• Root Mean Squared Error (RMSE): 18.06 cycles.</a:t>
            </a:r>
          </a:p>
          <a:p>
            <a:pPr>
              <a:spcBef>
                <a:spcPts val="800"/>
              </a:spcBef>
              <a:defRPr sz="1200">
                <a:solidFill>
                  <a:srgbClr val="F8FAFC"/>
                </a:solidFill>
                <a:latin typeface="Segoe UI"/>
              </a:defRPr>
            </a:pPr>
            <a:r>
              <a:t>• Architecture: FastAPI REST backend + Scikit-Learn RandomForest &amp; IsolationForest pipelines.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822960"/>
          </a:xfrm>
          <a:prstGeom prst="rect">
            <a:avLst/>
          </a:prstGeom>
          <a:noFill/>
        </p:spPr>
        <p:txBody>
          <a:bodyPr wrap="square">
            <a:spAutoFit/>
          </a:bodyPr>
          <a:lstStyle/>
          <a:p>
            <a:pPr>
              <a:defRPr sz="2400" b="1">
                <a:solidFill>
                  <a:srgbClr val="0EA5E9"/>
                </a:solidFill>
                <a:latin typeface="Segoe UI"/>
              </a:defRPr>
            </a:pPr>
            <a:r>
              <a:t>SLIDE 5  |  Mission Reliability Impact &amp; Strategic Readiness</a:t>
            </a:r>
          </a:p>
          <a:p>
            <a:pPr>
              <a:spcBef>
                <a:spcPts val="200"/>
              </a:spcBef>
              <a:defRPr sz="1200" b="1">
                <a:solidFill>
                  <a:srgbClr val="10B981"/>
                </a:solidFill>
                <a:latin typeface="Segoe UI"/>
              </a:defRPr>
            </a:pPr>
            <a:r>
              <a:t>⏱ Presentation Timing: 1:22 – 1:35 (13s)</a:t>
            </a:r>
          </a:p>
        </p:txBody>
      </p:sp>
      <p:pic>
        <p:nvPicPr>
          <p:cNvPr id="5" name="Picture 4" descr="slide5_mission_impact_1790713268041.jpg"/>
          <p:cNvPicPr>
            <a:picLocks noChangeAspect="1"/>
          </p:cNvPicPr>
          <p:nvPr/>
        </p:nvPicPr>
        <p:blipFill>
          <a:blip r:embed="rId2"/>
          <a:stretch>
            <a:fillRect/>
          </a:stretch>
        </p:blipFill>
        <p:spPr>
          <a:xfrm>
            <a:off x="731520" y="1371600"/>
            <a:ext cx="6217920" cy="3470467"/>
          </a:xfrm>
          <a:prstGeom prst="rect">
            <a:avLst/>
          </a:prstGeom>
        </p:spPr>
      </p:pic>
      <p:sp>
        <p:nvSpPr>
          <p:cNvPr id="6" name="Rounded Rectangle 5"/>
          <p:cNvSpPr/>
          <p:nvPr/>
        </p:nvSpPr>
        <p:spPr>
          <a:xfrm>
            <a:off x="7132320" y="1371600"/>
            <a:ext cx="432785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94A3B8"/>
                </a:solidFill>
                <a:latin typeface="Segoe UI"/>
              </a:defRPr>
            </a:pPr>
            <a:r>
              <a:t>FLEET READINESS</a:t>
            </a:r>
          </a:p>
          <a:p>
            <a:pPr>
              <a:spcBef>
                <a:spcPts val="200"/>
              </a:spcBef>
              <a:spcAft>
                <a:spcPts val="1200"/>
              </a:spcAft>
              <a:defRPr sz="1600" b="1">
                <a:solidFill>
                  <a:srgbClr val="10B981"/>
                </a:solidFill>
                <a:latin typeface="Segoe UI"/>
              </a:defRPr>
            </a:pPr>
            <a:r>
              <a:t>+40% Operational Availability</a:t>
            </a:r>
          </a:p>
          <a:p>
            <a:pPr>
              <a:spcBef>
                <a:spcPts val="800"/>
              </a:spcBef>
              <a:defRPr sz="1200">
                <a:solidFill>
                  <a:srgbClr val="F8FAFC"/>
                </a:solidFill>
                <a:latin typeface="Segoe UI"/>
              </a:defRPr>
            </a:pPr>
            <a:r>
              <a:t>• Prevent In-Flight Failures: Predictive early warning prevents catastrophic mid-mission engine breakdown.</a:t>
            </a:r>
          </a:p>
          <a:p>
            <a:pPr>
              <a:spcBef>
                <a:spcPts val="800"/>
              </a:spcBef>
              <a:defRPr sz="1200">
                <a:solidFill>
                  <a:srgbClr val="F8FAFC"/>
                </a:solidFill>
                <a:latin typeface="Segoe UI"/>
              </a:defRPr>
            </a:pPr>
            <a:r>
              <a:t>• Fleet Availability (+40%): Drastic reduction in unneeded ground teardowns and inspection downtime.</a:t>
            </a:r>
          </a:p>
          <a:p>
            <a:pPr>
              <a:spcBef>
                <a:spcPts val="800"/>
              </a:spcBef>
              <a:defRPr sz="1200">
                <a:solidFill>
                  <a:srgbClr val="F8FAFC"/>
                </a:solidFill>
                <a:latin typeface="Segoe UI"/>
              </a:defRPr>
            </a:pPr>
            <a:r>
              <a:t>• Condition-Based Maintenance (CBM): Paradigm shift from rigid flight-hour schedules to telemetry-driven CBM.</a:t>
            </a:r>
          </a:p>
          <a:p>
            <a:pPr>
              <a:spcBef>
                <a:spcPts val="800"/>
              </a:spcBef>
              <a:defRPr sz="1200">
                <a:solidFill>
                  <a:srgbClr val="F8FAFC"/>
                </a:solidFill>
                <a:latin typeface="Segoe UI"/>
              </a:defRPr>
            </a:pPr>
            <a:r>
              <a:t>• High Scalability: Easily extensible to multi-UAV tactical fleet ground control stations.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